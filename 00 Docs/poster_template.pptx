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4758988" cy="10333038"/>
  <p:notesSz cx="6858000" cy="9144000"/>
  <p:defaultTextStyle>
    <a:defPPr>
      <a:defRPr lang="en-US"/>
    </a:defPPr>
    <a:lvl1pPr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1pPr>
    <a:lvl2pPr marL="715963" indent="-258763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2pPr>
    <a:lvl3pPr marL="1433513" indent="-519113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3pPr>
    <a:lvl4pPr marL="2149475" indent="-777875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4pPr>
    <a:lvl5pPr marL="2867025" indent="-1038225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54">
          <p15:clr>
            <a:srgbClr val="A4A3A4"/>
          </p15:clr>
        </p15:guide>
        <p15:guide id="2" pos="46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 snapToObjects="1">
      <p:cViewPr>
        <p:scale>
          <a:sx n="83" d="100"/>
          <a:sy n="83" d="100"/>
        </p:scale>
        <p:origin x="936" y="256"/>
      </p:cViewPr>
      <p:guideLst>
        <p:guide orient="horz" pos="3254"/>
        <p:guide pos="46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Geneva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B99983-FF8B-48D4-BB5C-A13EAE56EED1}" type="datetime1">
              <a:rPr lang="en-US"/>
              <a:pPr>
                <a:defRPr/>
              </a:pPr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685800"/>
            <a:ext cx="48958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Geneva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5E5256C-919A-4817-B7EE-7D55C0BC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60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Geneva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6924" y="3209940"/>
            <a:ext cx="12545140" cy="2214906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3848" y="5855388"/>
            <a:ext cx="10331292" cy="26406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16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3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50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67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84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0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18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35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AC68B-D864-4606-AD5B-C211B22260C9}" type="datetime1">
              <a:rPr lang="en-US"/>
              <a:pPr>
                <a:defRPr/>
              </a:pPr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6B829-617E-46B8-8641-E065B8FDE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2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0" y="47625"/>
            <a:ext cx="14773275" cy="158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09663"/>
            <a:ext cx="14773275" cy="158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auto">
          <a:xfrm>
            <a:off x="112538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49969" y="-24897"/>
            <a:ext cx="14311745" cy="697998"/>
          </a:xfrm>
        </p:spPr>
        <p:txBody>
          <a:bodyPr/>
          <a:lstStyle>
            <a:lvl1pPr algn="r">
              <a:defRPr sz="4800" cap="all">
                <a:solidFill>
                  <a:srgbClr val="271D65"/>
                </a:solidFill>
                <a:latin typeface="Bodoni MT"/>
                <a:cs typeface="Bodoni MT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0"/>
          </p:nvPr>
        </p:nvSpPr>
        <p:spPr>
          <a:xfrm>
            <a:off x="4403883" y="673101"/>
            <a:ext cx="10331292" cy="441721"/>
          </a:xfrm>
        </p:spPr>
        <p:txBody>
          <a:bodyPr tIns="0">
            <a:noAutofit/>
          </a:bodyPr>
          <a:lstStyle>
            <a:lvl1pPr marL="0" indent="0" algn="r">
              <a:spcBef>
                <a:spcPts val="0"/>
              </a:spcBef>
              <a:buNone/>
              <a:defRPr sz="2400">
                <a:solidFill>
                  <a:srgbClr val="271D65"/>
                </a:solidFill>
              </a:defRPr>
            </a:lvl1pPr>
            <a:lvl2pPr marL="716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3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50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67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84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0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18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35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Click to edit Master subtitle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1"/>
          </p:nvPr>
        </p:nvSpPr>
        <p:spPr bwMode="auto">
          <a:xfrm>
            <a:off x="3789482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idx="12"/>
          </p:nvPr>
        </p:nvSpPr>
        <p:spPr bwMode="auto">
          <a:xfrm>
            <a:off x="7466426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idx="13"/>
          </p:nvPr>
        </p:nvSpPr>
        <p:spPr bwMode="auto">
          <a:xfrm>
            <a:off x="11143369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17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38188" y="414338"/>
            <a:ext cx="13282612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8188" y="2411413"/>
            <a:ext cx="13282612" cy="681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378" tIns="71689" rIns="143378" bIns="716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8188" y="9577388"/>
            <a:ext cx="3443287" cy="549275"/>
          </a:xfrm>
          <a:prstGeom prst="rect">
            <a:avLst/>
          </a:prstGeom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>
            <a:lvl1pPr>
              <a:defRPr sz="19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7D7629C7-CFF9-459C-9750-3C329516BF3C}" type="datetime1">
              <a:rPr lang="en-US"/>
              <a:pPr>
                <a:defRPr/>
              </a:pPr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1900" y="9577388"/>
            <a:ext cx="4675188" cy="549275"/>
          </a:xfrm>
          <a:prstGeom prst="rect">
            <a:avLst/>
          </a:prstGeom>
        </p:spPr>
        <p:txBody>
          <a:bodyPr vert="horz" lIns="143378" tIns="71689" rIns="143378" bIns="71689" rtlCol="0" anchor="ctr"/>
          <a:lstStyle>
            <a:lvl1pPr algn="ctr" defTabSz="716890" fontAlgn="auto">
              <a:spcBef>
                <a:spcPts val="0"/>
              </a:spcBef>
              <a:spcAft>
                <a:spcPts val="0"/>
              </a:spcAft>
              <a:defRPr sz="1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7513" y="9577388"/>
            <a:ext cx="3443287" cy="549275"/>
          </a:xfrm>
          <a:prstGeom prst="rect">
            <a:avLst/>
          </a:prstGeom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>
            <a:lvl1pPr algn="r">
              <a:defRPr sz="19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89B52F6F-59E5-4E8F-A507-C71A1C05D5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ctr" defTabSz="715963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Didot"/>
          <a:ea typeface="Geneva" charset="-128"/>
          <a:cs typeface="Didot"/>
        </a:defRPr>
      </a:lvl1pPr>
      <a:lvl2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2pPr>
      <a:lvl3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3pPr>
      <a:lvl4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4pPr>
      <a:lvl5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5pPr>
      <a:lvl6pPr marL="4572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6pPr>
      <a:lvl7pPr marL="9144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7pPr>
      <a:lvl8pPr marL="13716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8pPr>
      <a:lvl9pPr marL="18288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9pPr>
    </p:titleStyle>
    <p:bodyStyle>
      <a:lvl1pPr marL="536575" indent="-536575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Helvetica Neue"/>
          <a:ea typeface="Geneva" charset="-128"/>
          <a:cs typeface="Helvetica Neue"/>
        </a:defRPr>
      </a:lvl1pPr>
      <a:lvl2pPr marL="1163638" indent="-447675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400" kern="1200">
          <a:solidFill>
            <a:schemeClr val="tx1"/>
          </a:solidFill>
          <a:latin typeface="Helvetica Neue"/>
          <a:ea typeface="Geneva" charset="-128"/>
          <a:cs typeface="Helvetica Neue"/>
        </a:defRPr>
      </a:lvl2pPr>
      <a:lvl3pPr marL="179070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Helvetica Neue"/>
          <a:ea typeface="Geneva" charset="-128"/>
          <a:cs typeface="Helvetica Neue"/>
        </a:defRPr>
      </a:lvl3pPr>
      <a:lvl4pPr marL="250825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Helvetica Neue"/>
          <a:ea typeface="Geneva" charset="-128"/>
          <a:cs typeface="Helvetica Neue"/>
        </a:defRPr>
      </a:lvl4pPr>
      <a:lvl5pPr marL="322580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Helvetica Neue"/>
          <a:ea typeface="Geneva" charset="-128"/>
          <a:cs typeface="Helvetica Neue"/>
        </a:defRPr>
      </a:lvl5pPr>
      <a:lvl6pPr marL="3942893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5978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37667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09356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6890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3779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50669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6755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8444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30133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18227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35117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255B08E0-AFFD-C660-36AC-7B068820456A}"/>
              </a:ext>
            </a:extLst>
          </p:cNvPr>
          <p:cNvSpPr txBox="1">
            <a:spLocks/>
          </p:cNvSpPr>
          <p:nvPr/>
        </p:nvSpPr>
        <p:spPr bwMode="auto">
          <a:xfrm>
            <a:off x="11144956" y="1262063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378" tIns="71689" rIns="143378" bIns="71689" numCol="1" anchor="t" anchorCtr="0" compatLnSpc="1">
            <a:prstTxWarp prst="textNoShape">
              <a:avLst/>
            </a:prstTxWarp>
          </a:bodyPr>
          <a:lstStyle>
            <a:lvl1pPr marL="0" indent="0" algn="l" defTabSz="7159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Helvetica Neue"/>
                <a:ea typeface="Geneva" charset="-128"/>
                <a:cs typeface="Helvetica Neue"/>
              </a:defRPr>
            </a:lvl1pPr>
            <a:lvl2pPr marL="1163638" indent="-447675" algn="l" defTabSz="7159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/>
                </a:solidFill>
                <a:latin typeface="Helvetica Neue"/>
                <a:ea typeface="Geneva" charset="-128"/>
                <a:cs typeface="Helvetica Neue"/>
              </a:defRPr>
            </a:lvl2pPr>
            <a:lvl3pPr marL="1790700" indent="-357188" algn="l" defTabSz="7159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/>
                </a:solidFill>
                <a:latin typeface="Helvetica Neue"/>
                <a:ea typeface="Geneva" charset="-128"/>
                <a:cs typeface="Helvetica Neue"/>
              </a:defRPr>
            </a:lvl3pPr>
            <a:lvl4pPr marL="2508250" indent="-357188" algn="l" defTabSz="7159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/>
                </a:solidFill>
                <a:latin typeface="Helvetica Neue"/>
                <a:ea typeface="Geneva" charset="-128"/>
                <a:cs typeface="Helvetica Neue"/>
              </a:defRPr>
            </a:lvl4pPr>
            <a:lvl5pPr marL="3225800" indent="-357188" algn="l" defTabSz="7159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/>
                </a:solidFill>
                <a:latin typeface="Helvetica Neue"/>
                <a:ea typeface="Geneva" charset="-128"/>
                <a:cs typeface="Helvetica Neue"/>
              </a:defRPr>
            </a:lvl5pPr>
            <a:lvl6pPr marL="3942893" indent="-358445" algn="l" defTabSz="716890" rtl="0" eaLnBrk="1" latinLnBrk="0" hangingPunct="1">
              <a:spcBef>
                <a:spcPct val="20000"/>
              </a:spcBef>
              <a:buFont typeface="Arial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59782" indent="-358445" algn="l" defTabSz="716890" rtl="0" eaLnBrk="1" latinLnBrk="0" hangingPunct="1">
              <a:spcBef>
                <a:spcPct val="20000"/>
              </a:spcBef>
              <a:buFont typeface="Arial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76672" indent="-358445" algn="l" defTabSz="716890" rtl="0" eaLnBrk="1" latinLnBrk="0" hangingPunct="1">
              <a:spcBef>
                <a:spcPct val="20000"/>
              </a:spcBef>
              <a:buFont typeface="Arial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3562" indent="-358445" algn="l" defTabSz="716890" rtl="0" eaLnBrk="1" latinLnBrk="0" hangingPunct="1">
              <a:spcBef>
                <a:spcPct val="20000"/>
              </a:spcBef>
              <a:buFont typeface="Arial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algn="ctr"/>
            <a:r>
              <a:rPr lang="en-US" sz="1200" dirty="0"/>
              <a:t>Figure 3: Physical Steering Wheel Rig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Figure 4: Startup screen of device GUI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FBD7C9E-2FB5-3BEB-CD9C-EC8FD248A6E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78259" y="1270001"/>
            <a:ext cx="3499731" cy="8331199"/>
          </a:xfrm>
        </p:spPr>
        <p:txBody>
          <a:bodyPr/>
          <a:lstStyle/>
          <a:p>
            <a:pPr algn="l"/>
            <a:r>
              <a:rPr lang="en-AU" sz="1800" b="1" i="0" u="none" strike="noStrike" dirty="0">
                <a:solidFill>
                  <a:srgbClr val="262626"/>
                </a:solidFill>
                <a:effectLst/>
                <a:latin typeface="Bodoni MT" panose="02070603080606020203" pitchFamily="18" charset="77"/>
              </a:rPr>
              <a:t>Findings</a:t>
            </a:r>
          </a:p>
          <a:p>
            <a:pPr algn="l"/>
            <a:r>
              <a:rPr lang="en-AU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Much time was spent in the planning phase, so the end product did not differ greatly from the planned implementation.</a:t>
            </a:r>
            <a:endParaRPr lang="en-AU" sz="1200" b="0" i="0" u="none" strike="noStrike" dirty="0">
              <a:solidFill>
                <a:srgbClr val="262626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200" dirty="0">
                <a:solidFill>
                  <a:srgbClr val="26262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was found useful to make the disconnection/reconnection of nodes more robust, as sometimes a node would disconnect during operation.</a:t>
            </a:r>
            <a:endParaRPr lang="en-AU" sz="1200" b="0" i="0" u="none" strike="noStrike" dirty="0">
              <a:solidFill>
                <a:srgbClr val="262626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200" dirty="0">
                <a:solidFill>
                  <a:srgbClr val="26262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fast transmit rate was also required from the IMU node to allow for real time steering.</a:t>
            </a:r>
          </a:p>
          <a:p>
            <a:pPr algn="l"/>
            <a:r>
              <a:rPr lang="en-AU" sz="1200" dirty="0">
                <a:solidFill>
                  <a:srgbClr val="26262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we began testing the IMU with a battery, we found that the BLE system consistently dropped out. The root cause was found to be a lower transmission power from the IMU, likely caused by a poor voltage reference. The solution was to increase the transmit power until no dropouts were observed. </a:t>
            </a:r>
          </a:p>
          <a:p>
            <a:pPr algn="l"/>
            <a:endParaRPr lang="en-AU" sz="1200" b="0" i="0" u="none" strike="noStrike" dirty="0">
              <a:solidFill>
                <a:srgbClr val="262626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800" b="1" i="0" u="none" strike="noStrike" dirty="0">
                <a:solidFill>
                  <a:srgbClr val="262626"/>
                </a:solidFill>
                <a:effectLst/>
                <a:latin typeface="Bodoni MT" panose="02070603080606020203" pitchFamily="18" charset="77"/>
              </a:rPr>
              <a:t>References and Acknowledgements</a:t>
            </a:r>
          </a:p>
          <a:p>
            <a:pPr algn="l"/>
            <a:r>
              <a:rPr lang="en-AU" sz="1200" b="0" i="0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would like to thank the team at the QLD Maritime Museum, in particular Sanjana and Marie, for their assistance and time in developing this project.</a:t>
            </a:r>
          </a:p>
          <a:p>
            <a:pPr algn="l"/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[1] Embedded Expert, "RC522 RFID Reader with nRF52840 and Zephyr RTOS," Embedded Expert Blog, [Online]. Available: https://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blog.embeddedexpert.io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/?p=768. [Accessed: 2025].</a:t>
            </a:r>
          </a:p>
          <a:p>
            <a:pPr algn="l"/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[2] 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Pygame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Community, "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Pygame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— Python Game Development," 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Pygame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Library Documentation, [Online]. Available: https://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www.pygame.org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pPr algn="l"/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[3] Zephyr Project, "Zephyr Project Documentation," The Linux Foundation, [Online]. Available: https://</a:t>
            </a:r>
            <a:r>
              <a:rPr lang="en-AU" sz="1200" b="0" i="1" u="none" strike="noStrike" dirty="0" err="1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docs.zephyrproject.org</a:t>
            </a:r>
            <a:r>
              <a:rPr lang="en-AU" sz="1200" b="0" i="1" u="none" strike="noStrike" dirty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3074" name="Content Placeholder 1"/>
          <p:cNvSpPr>
            <a:spLocks noGrp="1"/>
          </p:cNvSpPr>
          <p:nvPr>
            <p:ph idx="1"/>
          </p:nvPr>
        </p:nvSpPr>
        <p:spPr>
          <a:xfrm>
            <a:off x="112713" y="1270000"/>
            <a:ext cx="3498850" cy="8331200"/>
          </a:xfrm>
          <a:ln/>
        </p:spPr>
        <p:txBody>
          <a:bodyPr/>
          <a:lstStyle/>
          <a:p>
            <a:r>
              <a:rPr lang="en-US" sz="1800" b="1" dirty="0">
                <a:latin typeface="Bodoni MT" charset="0"/>
                <a:cs typeface="Helvetica Neue" charset="0"/>
              </a:rPr>
              <a:t>Introduction</a:t>
            </a:r>
            <a:endParaRPr lang="en-US" b="1" dirty="0">
              <a:latin typeface="Helvetica Neue" charset="0"/>
              <a:cs typeface="Helvetica Neue" charset="0"/>
            </a:endParaRPr>
          </a:p>
          <a:p>
            <a:pPr algn="l"/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Queensland Maritime Museum is currently trying to increase visits from a teenage demographic.</a:t>
            </a:r>
          </a:p>
          <a:p>
            <a:pPr algn="l"/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University of Queensland (UQ) has been approached for assistance with creating an interactive experience for their “Making Waves” exhibition. A previous group prototyped a boat simulator, driven by an old vessel’s wheel. </a:t>
            </a:r>
            <a:endParaRPr lang="en-AU" sz="1200" dirty="0">
              <a:solidFill>
                <a:srgbClr val="1F232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overall objective of this project was to develop an interactive experience for the "Making Waves" exhibition, that involves the use of the boat wheel at the museum.</a:t>
            </a:r>
            <a:endParaRPr lang="en-AU" sz="1200" dirty="0">
              <a:solidFill>
                <a:srgbClr val="1F232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Minimum Viable Product (MVP) has been developed to demonstrate a simplified version of the proposed full prototype for refinement purposes.</a:t>
            </a:r>
            <a:endParaRPr lang="en-AU" sz="1200" dirty="0">
              <a:solidFill>
                <a:srgbClr val="1F232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AU" sz="1200" dirty="0">
                <a:solidFill>
                  <a:srgbClr val="1F232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an enhancement, i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nspired from the story of Jessica Watson’s mother hiding little cards, notes, and other trinkets around the boat, we have implement</a:t>
            </a:r>
            <a:r>
              <a:rPr lang="en-AU" sz="1200" dirty="0">
                <a:solidFill>
                  <a:srgbClr val="1F232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 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AU" sz="1200" dirty="0">
                <a:solidFill>
                  <a:srgbClr val="1F232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 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"easter egg hunt” that can be deployed in a physical space to encourage interaction and exploration of the museum’s exhibits.</a:t>
            </a:r>
          </a:p>
          <a:p>
            <a:endParaRPr lang="en-AU" sz="1200" b="0" i="0" u="none" strike="noStrike" dirty="0">
              <a:solidFill>
                <a:srgbClr val="1F2328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800" b="1" dirty="0">
                <a:latin typeface="Bodoni MT" charset="0"/>
                <a:cs typeface="Helvetica Neue" charset="0"/>
              </a:rPr>
              <a:t>System Overview</a:t>
            </a:r>
            <a:endParaRPr lang="en-AU" sz="1200" b="1" dirty="0">
              <a:solidFill>
                <a:srgbClr val="1F232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MVP, an Inertial Measurement Unit (IMU) was mounted to the centre of the wheel. The </a:t>
            </a:r>
            <a:r>
              <a:rPr lang="en-AU" sz="1200" b="1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fusion of gyroscopic and accelerometer data 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 be used to determine the position of the wheel. This information was used to drive a virtual boat.</a:t>
            </a:r>
            <a:endParaRPr lang="en-AU" sz="1200" dirty="0">
              <a:solidFill>
                <a:srgbClr val="1F232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Easter Egg Hunt </a:t>
            </a:r>
            <a:r>
              <a:rPr lang="en-AU" sz="1200" dirty="0">
                <a:solidFill>
                  <a:srgbClr val="1F232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was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developed using a </a:t>
            </a:r>
            <a:r>
              <a:rPr lang="en-AU" sz="12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Radio-Frequency Identification (RFID) system. 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user finds RFID fobs in the physical space and scans them with a receiver, creating a </a:t>
            </a:r>
            <a:r>
              <a:rPr lang="en-AU" sz="1200" b="1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checkpoint-based data </a:t>
            </a:r>
            <a:r>
              <a:rPr lang="en-AU" sz="1200" b="1" i="0" u="none" strike="noStrike" dirty="0" err="1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muling</a:t>
            </a:r>
            <a:r>
              <a:rPr lang="en-AU" sz="1200" b="1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system. </a:t>
            </a:r>
            <a:r>
              <a:rPr lang="en-AU" sz="1200" b="0" i="0" u="none" strike="noStrike" dirty="0">
                <a:solidFill>
                  <a:srgbClr val="1F2328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the MVP, these collectibles are used to unlock control of the virtual boat.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system communicates over a number of</a:t>
            </a:r>
            <a:endParaRPr lang="en-US" sz="1200" dirty="0">
              <a:latin typeface="Helvetica Neue" charset="0"/>
              <a:cs typeface="Helvetica Neue" charset="0"/>
            </a:endParaRPr>
          </a:p>
        </p:txBody>
      </p:sp>
      <p:sp>
        <p:nvSpPr>
          <p:cNvPr id="3075" name="Title 2"/>
          <p:cNvSpPr>
            <a:spLocks noGrp="1"/>
          </p:cNvSpPr>
          <p:nvPr>
            <p:ph type="title"/>
          </p:nvPr>
        </p:nvSpPr>
        <p:spPr>
          <a:xfrm>
            <a:off x="449263" y="-25400"/>
            <a:ext cx="14312900" cy="698500"/>
          </a:xfrm>
        </p:spPr>
        <p:txBody>
          <a:bodyPr/>
          <a:lstStyle/>
          <a:p>
            <a:r>
              <a:rPr lang="en-US" cap="none" dirty="0">
                <a:latin typeface="Bodoni MT" charset="0"/>
                <a:cs typeface="Didot" charset="0"/>
              </a:rPr>
              <a:t>MAKING WAVES (BLUE - TETHYS)</a:t>
            </a:r>
          </a:p>
        </p:txBody>
      </p:sp>
      <p:sp>
        <p:nvSpPr>
          <p:cNvPr id="3076" name="Subtitle 3"/>
          <p:cNvSpPr>
            <a:spLocks noGrp="1"/>
          </p:cNvSpPr>
          <p:nvPr>
            <p:ph type="subTitle" idx="10"/>
          </p:nvPr>
        </p:nvSpPr>
        <p:spPr>
          <a:xfrm>
            <a:off x="4403725" y="673100"/>
            <a:ext cx="10331450" cy="4413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AU" b="0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Tynan Jones, 46387008, Piper Hofstee, 45805523</a:t>
            </a:r>
            <a:endParaRPr lang="en-US" dirty="0">
              <a:latin typeface="Helvetica Neue" charset="0"/>
              <a:cs typeface="Helvetica Neue" charset="0"/>
            </a:endParaRPr>
          </a:p>
        </p:txBody>
      </p:sp>
      <p:sp>
        <p:nvSpPr>
          <p:cNvPr id="3077" name="Content Placeholder 7"/>
          <p:cNvSpPr>
            <a:spLocks noGrp="1"/>
          </p:cNvSpPr>
          <p:nvPr>
            <p:ph idx="11"/>
          </p:nvPr>
        </p:nvSpPr>
        <p:spPr>
          <a:xfrm>
            <a:off x="3789363" y="1270000"/>
            <a:ext cx="3500437" cy="7656513"/>
          </a:xfrm>
          <a:ln/>
        </p:spPr>
        <p:txBody>
          <a:bodyPr/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wired and wireless communication protocols, forming a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of 4x nodes;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2x peripheral nodes, a central base node and a PC GUI which displays information in a format useful to a user. The PC was also where the game was to be played. Communication between all nodes is fully duplex, allowing for control and communication of peripheral sensors.</a:t>
            </a:r>
          </a:p>
          <a:p>
            <a:endParaRPr lang="en-US" sz="1200" dirty="0">
              <a:latin typeface="Bodoni MT" charset="0"/>
              <a:cs typeface="Helvetica Neue" charset="0"/>
            </a:endParaRPr>
          </a:p>
          <a:p>
            <a:r>
              <a:rPr lang="en-US" sz="1800" b="1" dirty="0">
                <a:latin typeface="Bodoni MT" charset="0"/>
                <a:cs typeface="Helvetica Neue" charset="0"/>
              </a:rPr>
              <a:t>Block Diagrams</a:t>
            </a: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endParaRPr lang="en-US" sz="1800" dirty="0">
              <a:latin typeface="Bodoni MT" charset="0"/>
              <a:cs typeface="Helvetica Neue" charset="0"/>
            </a:endParaRP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Figure 1: Device Hardware Configuration</a:t>
            </a: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Figure 2: Communication Protocol</a:t>
            </a:r>
          </a:p>
          <a:p>
            <a:endParaRPr lang="en-US" dirty="0">
              <a:latin typeface="Helvetica Neue" charset="0"/>
              <a:cs typeface="Helvetica Neue" charset="0"/>
            </a:endParaRPr>
          </a:p>
        </p:txBody>
      </p:sp>
      <p:pic>
        <p:nvPicPr>
          <p:cNvPr id="3" name="Content Placeholder 2" descr="A diagram of a diagram&#10;&#10;Description automatically generated">
            <a:extLst>
              <a:ext uri="{FF2B5EF4-FFF2-40B4-BE49-F238E27FC236}">
                <a16:creationId xmlns:a16="http://schemas.microsoft.com/office/drawing/2014/main" id="{AACF7AF4-6FDA-351C-A224-B1D808513D43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2"/>
          <a:srcRect l="3527" r="9978"/>
          <a:stretch/>
        </p:blipFill>
        <p:spPr>
          <a:xfrm>
            <a:off x="3965417" y="3393955"/>
            <a:ext cx="3027680" cy="2282746"/>
          </a:xfrm>
          <a:ln/>
        </p:spPr>
      </p:pic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B894F7B4-2C1B-D667-267D-9BC2C0156A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61" t="6813" r="5768" b="6348"/>
          <a:stretch/>
        </p:blipFill>
        <p:spPr>
          <a:xfrm>
            <a:off x="3917977" y="6044998"/>
            <a:ext cx="3153868" cy="3364113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849E0BE5-AE07-EE4B-EE20-0F5C16343F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964" t="4537" r="10030" b="5284"/>
          <a:stretch/>
        </p:blipFill>
        <p:spPr>
          <a:xfrm>
            <a:off x="11058029" y="3922374"/>
            <a:ext cx="3499731" cy="2820264"/>
          </a:xfrm>
          <a:prstGeom prst="rect">
            <a:avLst/>
          </a:prstGeom>
        </p:spPr>
      </p:pic>
      <p:pic>
        <p:nvPicPr>
          <p:cNvPr id="15" name="Picture 14" descr="A screenshot of a video game with Marfa lights in the background&#10;&#10;Description automatically generated">
            <a:extLst>
              <a:ext uri="{FF2B5EF4-FFF2-40B4-BE49-F238E27FC236}">
                <a16:creationId xmlns:a16="http://schemas.microsoft.com/office/drawing/2014/main" id="{3C3B1257-8147-098E-48CD-274B5C680A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887" t="10415" r="25694"/>
          <a:stretch/>
        </p:blipFill>
        <p:spPr>
          <a:xfrm>
            <a:off x="11056496" y="7201102"/>
            <a:ext cx="3567040" cy="2634402"/>
          </a:xfrm>
          <a:prstGeom prst="rect">
            <a:avLst/>
          </a:prstGeom>
        </p:spPr>
      </p:pic>
      <p:pic>
        <p:nvPicPr>
          <p:cNvPr id="20" name="Picture 19" descr="A steering wheel on a desk&#10;&#10;Description automatically generated">
            <a:extLst>
              <a:ext uri="{FF2B5EF4-FFF2-40B4-BE49-F238E27FC236}">
                <a16:creationId xmlns:a16="http://schemas.microsoft.com/office/drawing/2014/main" id="{2827A3F5-132B-B19E-C550-BB101FE39F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202" b="8294"/>
          <a:stretch/>
        </p:blipFill>
        <p:spPr>
          <a:xfrm>
            <a:off x="11135682" y="1319196"/>
            <a:ext cx="3344426" cy="214471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C67680-21E5-3299-0213-DF36CEF63BC4}"/>
              </a:ext>
            </a:extLst>
          </p:cNvPr>
          <p:cNvSpPr txBox="1"/>
          <p:nvPr/>
        </p:nvSpPr>
        <p:spPr>
          <a:xfrm>
            <a:off x="10946331" y="9835504"/>
            <a:ext cx="3835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Figure 5: Gameplay still of boat navigation on GUI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UQColours">
      <a:dk1>
        <a:sysClr val="windowText" lastClr="000000"/>
      </a:dk1>
      <a:lt1>
        <a:sysClr val="window" lastClr="FFFFFF"/>
      </a:lt1>
      <a:dk2>
        <a:srgbClr val="271D65"/>
      </a:dk2>
      <a:lt2>
        <a:srgbClr val="EEECE1"/>
      </a:lt2>
      <a:accent1>
        <a:srgbClr val="271D65"/>
      </a:accent1>
      <a:accent2>
        <a:srgbClr val="AA0433"/>
      </a:accent2>
      <a:accent3>
        <a:srgbClr val="73B632"/>
      </a:accent3>
      <a:accent4>
        <a:srgbClr val="F6BC1C"/>
      </a:accent4>
      <a:accent5>
        <a:srgbClr val="4BACC6"/>
      </a:accent5>
      <a:accent6>
        <a:srgbClr val="2A73AE"/>
      </a:accent6>
      <a:hlink>
        <a:srgbClr val="3A8B2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</TotalTime>
  <Words>648</Words>
  <Application>Microsoft Macintosh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Bodoni MT</vt:lpstr>
      <vt:lpstr>Calibri</vt:lpstr>
      <vt:lpstr>Didot</vt:lpstr>
      <vt:lpstr>Helvetica Neue</vt:lpstr>
      <vt:lpstr>Open Sans</vt:lpstr>
      <vt:lpstr>poster</vt:lpstr>
      <vt:lpstr>MAKING WAVES (BLUE - TETHYS)</vt:lpstr>
    </vt:vector>
  </TitlesOfParts>
  <Company>School of ITEE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 (Bodoni mt 48pt)</dc:title>
  <dc:creator>Lorna Macdonald</dc:creator>
  <cp:lastModifiedBy>Piper Hofstee</cp:lastModifiedBy>
  <cp:revision>13</cp:revision>
  <cp:lastPrinted>2011-10-04T02:16:03Z</cp:lastPrinted>
  <dcterms:created xsi:type="dcterms:W3CDTF">2011-10-04T02:18:07Z</dcterms:created>
  <dcterms:modified xsi:type="dcterms:W3CDTF">2026-05-26T14:06:02Z</dcterms:modified>
</cp:coreProperties>
</file>